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9E625-8BC4-7F9F-4FBF-22414292223E}" v="13" dt="2026-08-01T11:56:54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12D21-27B9-4A7D-9E47-F3129D60ADAD}" type="datetimeFigureOut">
              <a:t>1/08/2026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C27EE-F55C-4665-BE63-D7841FF83C00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8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Wat is PCB art </a:t>
            </a:r>
            <a:r>
              <a:rPr lang="en-US" dirty="0" err="1">
                <a:ea typeface="Calibri"/>
                <a:cs typeface="Calibri"/>
              </a:rPr>
              <a:t>precies</a:t>
            </a:r>
            <a:r>
              <a:rPr lang="en-US" dirty="0">
                <a:ea typeface="Calibri"/>
                <a:cs typeface="Calibri"/>
              </a:rPr>
              <a:t>?</a:t>
            </a:r>
          </a:p>
          <a:p>
            <a:r>
              <a:rPr lang="en-US" dirty="0">
                <a:ea typeface="Calibri"/>
                <a:cs typeface="Calibri"/>
              </a:rPr>
              <a:t>Een </a:t>
            </a:r>
            <a:r>
              <a:rPr lang="en-US" dirty="0" err="1">
                <a:ea typeface="Calibri"/>
                <a:cs typeface="Calibri"/>
              </a:rPr>
              <a:t>versierde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printplaat</a:t>
            </a:r>
            <a:r>
              <a:rPr lang="en-US" dirty="0">
                <a:ea typeface="Calibri"/>
                <a:cs typeface="Calibri"/>
              </a:rPr>
              <a:t> die al dan </a:t>
            </a:r>
            <a:r>
              <a:rPr lang="en-US" dirty="0" err="1">
                <a:ea typeface="Calibri"/>
                <a:cs typeface="Calibri"/>
              </a:rPr>
              <a:t>niet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ook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dienst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als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nuttig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voorwerp</a:t>
            </a:r>
            <a:r>
              <a:rPr lang="en-US" dirty="0">
                <a:ea typeface="Calibri"/>
                <a:cs typeface="Calibri"/>
              </a:rPr>
              <a:t>. De kunst </a:t>
            </a:r>
            <a:r>
              <a:rPr lang="en-US" dirty="0" err="1">
                <a:ea typeface="Calibri"/>
                <a:cs typeface="Calibri"/>
              </a:rPr>
              <a:t>bestaat</a:t>
            </a:r>
            <a:r>
              <a:rPr lang="en-US" dirty="0">
                <a:ea typeface="Calibri"/>
                <a:cs typeface="Calibri"/>
              </a:rPr>
              <a:t> er in om met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gelimiteerd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aantal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kleuren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afwerkingen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coole</a:t>
            </a:r>
            <a:r>
              <a:rPr lang="en-US" dirty="0">
                <a:ea typeface="Calibri"/>
                <a:cs typeface="Calibri"/>
              </a:rPr>
              <a:t> nerdy print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maken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26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Een </a:t>
            </a:r>
            <a:r>
              <a:rPr lang="en-US" dirty="0" err="1">
                <a:ea typeface="Calibri"/>
                <a:cs typeface="Calibri"/>
              </a:rPr>
              <a:t>aantal</a:t>
            </a:r>
            <a:r>
              <a:rPr lang="en-US" dirty="0">
                <a:ea typeface="Calibri"/>
                <a:cs typeface="Calibri"/>
              </a:rPr>
              <a:t> van </a:t>
            </a:r>
            <a:r>
              <a:rPr lang="en-US" dirty="0" err="1">
                <a:ea typeface="Calibri"/>
                <a:cs typeface="Calibri"/>
              </a:rPr>
              <a:t>mijn</a:t>
            </a:r>
            <a:r>
              <a:rPr lang="en-US" dirty="0">
                <a:ea typeface="Calibri"/>
                <a:cs typeface="Calibri"/>
              </a:rPr>
              <a:t> eigen </a:t>
            </a:r>
            <a:r>
              <a:rPr lang="en-US" dirty="0" err="1">
                <a:ea typeface="Calibri"/>
                <a:cs typeface="Calibri"/>
              </a:rPr>
              <a:t>creaties</a:t>
            </a:r>
            <a:r>
              <a:rPr lang="en-US" dirty="0">
                <a:ea typeface="Calibri"/>
                <a:cs typeface="Calibri"/>
              </a:rPr>
              <a:t>. Ik ga zo </a:t>
            </a:r>
            <a:r>
              <a:rPr lang="en-US" dirty="0" err="1">
                <a:ea typeface="Calibri"/>
                <a:cs typeface="Calibri"/>
              </a:rPr>
              <a:t>meteen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ook</a:t>
            </a:r>
            <a:r>
              <a:rPr lang="en-US" dirty="0">
                <a:ea typeface="Calibri"/>
                <a:cs typeface="Calibri"/>
              </a:rPr>
              <a:t> laten </a:t>
            </a:r>
            <a:r>
              <a:rPr lang="en-US" dirty="0" err="1">
                <a:ea typeface="Calibri"/>
                <a:cs typeface="Calibri"/>
              </a:rPr>
              <a:t>zien</a:t>
            </a:r>
            <a:r>
              <a:rPr lang="en-US" dirty="0">
                <a:ea typeface="Calibri"/>
                <a:cs typeface="Calibri"/>
              </a:rPr>
              <a:t> hoe </a:t>
            </a:r>
            <a:r>
              <a:rPr lang="en-US" dirty="0" err="1">
                <a:ea typeface="Calibri"/>
                <a:cs typeface="Calibri"/>
              </a:rPr>
              <a:t>ik</a:t>
            </a:r>
            <a:r>
              <a:rPr lang="en-US" dirty="0">
                <a:ea typeface="Calibri"/>
                <a:cs typeface="Calibri"/>
              </a:rPr>
              <a:t> de stitch PCB </a:t>
            </a:r>
            <a:r>
              <a:rPr lang="en-US" dirty="0" err="1">
                <a:ea typeface="Calibri"/>
                <a:cs typeface="Calibri"/>
              </a:rPr>
              <a:t>gemaakt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45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Ik ga er </a:t>
            </a:r>
            <a:r>
              <a:rPr lang="en-US" dirty="0" err="1">
                <a:ea typeface="Calibri"/>
                <a:cs typeface="Calibri"/>
              </a:rPr>
              <a:t>hier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snel</a:t>
            </a:r>
            <a:r>
              <a:rPr lang="en-US" dirty="0">
                <a:ea typeface="Calibri"/>
                <a:cs typeface="Calibri"/>
              </a:rPr>
              <a:t> door, quick and dirty. </a:t>
            </a:r>
            <a:r>
              <a:rPr lang="en-US" dirty="0" err="1">
                <a:ea typeface="Calibri"/>
                <a:cs typeface="Calibri"/>
              </a:rPr>
              <a:t>Vermoedelijk</a:t>
            </a:r>
            <a:r>
              <a:rPr lang="en-US" dirty="0">
                <a:ea typeface="Calibri"/>
                <a:cs typeface="Calibri"/>
              </a:rPr>
              <a:t> ga je er (</a:t>
            </a:r>
            <a:r>
              <a:rPr lang="en-US" dirty="0" err="1">
                <a:ea typeface="Calibri"/>
                <a:cs typeface="Calibri"/>
              </a:rPr>
              <a:t>zeker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eerste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keer</a:t>
            </a:r>
            <a:r>
              <a:rPr lang="en-US" dirty="0">
                <a:ea typeface="Calibri"/>
                <a:cs typeface="Calibri"/>
              </a:rPr>
              <a:t>)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tijdje</a:t>
            </a:r>
            <a:r>
              <a:rPr lang="en-US" dirty="0">
                <a:ea typeface="Calibri"/>
                <a:cs typeface="Calibri"/>
              </a:rPr>
              <a:t> over </a:t>
            </a:r>
            <a:r>
              <a:rPr lang="en-US" dirty="0" err="1">
                <a:ea typeface="Calibri"/>
                <a:cs typeface="Calibri"/>
              </a:rPr>
              <a:t>doen</a:t>
            </a:r>
            <a:r>
              <a:rPr lang="en-US" dirty="0">
                <a:ea typeface="Calibri"/>
                <a:cs typeface="Calibri"/>
              </a:rPr>
              <a:t> om </a:t>
            </a:r>
            <a:r>
              <a:rPr lang="en-US" dirty="0" err="1">
                <a:ea typeface="Calibri"/>
                <a:cs typeface="Calibri"/>
              </a:rPr>
              <a:t>alles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juist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krijgen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Tip: AI </a:t>
            </a:r>
            <a:r>
              <a:rPr lang="en-US" dirty="0" err="1">
                <a:ea typeface="Calibri"/>
                <a:cs typeface="Calibri"/>
              </a:rPr>
              <a:t>kan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tegenwoordig</a:t>
            </a:r>
            <a:r>
              <a:rPr lang="en-US" dirty="0">
                <a:ea typeface="Calibri"/>
                <a:cs typeface="Calibri"/>
              </a:rPr>
              <a:t> best </a:t>
            </a:r>
            <a:r>
              <a:rPr lang="en-US" dirty="0" err="1">
                <a:ea typeface="Calibri"/>
                <a:cs typeface="Calibri"/>
              </a:rPr>
              <a:t>goed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afbeeldingen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omzetten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gestyleerde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afbeeldingen</a:t>
            </a:r>
            <a:r>
              <a:rPr lang="en-US" dirty="0">
                <a:ea typeface="Calibri"/>
                <a:cs typeface="Calibri"/>
              </a:rPr>
              <a:t> met 2-3 </a:t>
            </a:r>
            <a:r>
              <a:rPr lang="en-US" dirty="0" err="1">
                <a:ea typeface="Calibri"/>
                <a:cs typeface="Calibri"/>
              </a:rPr>
              <a:t>kleuren</a:t>
            </a:r>
            <a:r>
              <a:rPr lang="en-US" dirty="0">
                <a:ea typeface="Calibri"/>
                <a:cs typeface="Calibri"/>
              </a:rPr>
              <a:t>. Vraag </a:t>
            </a:r>
            <a:r>
              <a:rPr lang="en-US" dirty="0" err="1">
                <a:ea typeface="Calibri"/>
                <a:cs typeface="Calibri"/>
              </a:rPr>
              <a:t>ernaar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bij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uw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geliefkoosde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cluncker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29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Pro tip: </a:t>
            </a:r>
            <a:r>
              <a:rPr lang="en-US" dirty="0" err="1">
                <a:ea typeface="Calibri"/>
                <a:cs typeface="Calibri"/>
              </a:rPr>
              <a:t>selecteer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node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druk</a:t>
            </a:r>
            <a:r>
              <a:rPr lang="en-US" dirty="0">
                <a:ea typeface="Calibri"/>
                <a:cs typeface="Calibri"/>
              </a:rPr>
              <a:t> ctrl-</a:t>
            </a:r>
            <a:r>
              <a:rPr lang="en-US" dirty="0" err="1">
                <a:ea typeface="Calibri"/>
                <a:cs typeface="Calibri"/>
              </a:rPr>
              <a:t>a</a:t>
            </a:r>
            <a:r>
              <a:rPr lang="en-US" dirty="0">
                <a:ea typeface="Calibri"/>
                <a:cs typeface="Calibri"/>
              </a:rPr>
              <a:t> om alle </a:t>
            </a:r>
            <a:r>
              <a:rPr lang="en-US" dirty="0" err="1">
                <a:ea typeface="Calibri"/>
                <a:cs typeface="Calibri"/>
              </a:rPr>
              <a:t>aangrenzende</a:t>
            </a:r>
            <a:r>
              <a:rPr lang="en-US" dirty="0">
                <a:ea typeface="Calibri"/>
                <a:cs typeface="Calibri"/>
              </a:rPr>
              <a:t> nodes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selecteren</a:t>
            </a:r>
            <a:r>
              <a:rPr lang="en-US" dirty="0">
                <a:ea typeface="Calibri"/>
                <a:cs typeface="Calibri"/>
              </a:rPr>
              <a:t>. </a:t>
            </a:r>
            <a:r>
              <a:rPr lang="en-US" dirty="0" err="1">
                <a:ea typeface="Calibri"/>
                <a:cs typeface="Calibri"/>
              </a:rPr>
              <a:t>Verwijder</a:t>
            </a:r>
            <a:r>
              <a:rPr lang="en-US" dirty="0">
                <a:ea typeface="Calibri"/>
                <a:cs typeface="Calibri"/>
              </a:rPr>
              <a:t> de nodes van </a:t>
            </a:r>
            <a:r>
              <a:rPr lang="en-US" dirty="0" err="1">
                <a:ea typeface="Calibri"/>
                <a:cs typeface="Calibri"/>
              </a:rPr>
              <a:t>binnen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buiten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14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De </a:t>
            </a:r>
            <a:r>
              <a:rPr lang="en-US" dirty="0" err="1">
                <a:ea typeface="Calibri"/>
                <a:cs typeface="Calibri"/>
              </a:rPr>
              <a:t>afbeelding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hier</a:t>
            </a:r>
            <a:r>
              <a:rPr lang="en-US" dirty="0">
                <a:ea typeface="Calibri"/>
                <a:cs typeface="Calibri"/>
              </a:rPr>
              <a:t> was </a:t>
            </a:r>
            <a:r>
              <a:rPr lang="en-US" dirty="0" err="1">
                <a:ea typeface="Calibri"/>
                <a:cs typeface="Calibri"/>
              </a:rPr>
              <a:t>dus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fout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moet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lijntje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zijn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ipv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gevulde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vorm</a:t>
            </a:r>
            <a:r>
              <a:rPr lang="en-US" dirty="0">
                <a:ea typeface="Calibri"/>
                <a:cs typeface="Calibri"/>
              </a:rPr>
              <a:t>. </a:t>
            </a:r>
            <a:r>
              <a:rPr lang="en-US" dirty="0" err="1">
                <a:ea typeface="Calibri"/>
                <a:cs typeface="Calibri"/>
              </a:rPr>
              <a:t>KiCad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snapt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wel</a:t>
            </a:r>
            <a:r>
              <a:rPr lang="en-US" dirty="0">
                <a:ea typeface="Calibri"/>
                <a:cs typeface="Calibri"/>
              </a:rPr>
              <a:t>, maar JLCPCB </a:t>
            </a:r>
            <a:r>
              <a:rPr lang="en-US" dirty="0" err="1">
                <a:ea typeface="Calibri"/>
                <a:cs typeface="Calibri"/>
              </a:rPr>
              <a:t>gaat</a:t>
            </a:r>
            <a:r>
              <a:rPr lang="en-US" dirty="0">
                <a:ea typeface="Calibri"/>
                <a:cs typeface="Calibri"/>
              </a:rPr>
              <a:t> er de </a:t>
            </a:r>
            <a:r>
              <a:rPr lang="en-US" dirty="0" err="1">
                <a:ea typeface="Calibri"/>
                <a:cs typeface="Calibri"/>
              </a:rPr>
              <a:t>vorm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niet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kunnen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uithalen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6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Het </a:t>
            </a:r>
            <a:r>
              <a:rPr lang="en-US" dirty="0" err="1">
                <a:ea typeface="Calibri"/>
                <a:cs typeface="Calibri"/>
              </a:rPr>
              <a:t>kan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ook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helpen</a:t>
            </a:r>
            <a:r>
              <a:rPr lang="en-US" dirty="0">
                <a:ea typeface="Calibri"/>
                <a:cs typeface="Calibri"/>
              </a:rPr>
              <a:t> om de </a:t>
            </a:r>
            <a:r>
              <a:rPr lang="en-US" dirty="0" err="1">
                <a:ea typeface="Calibri"/>
                <a:cs typeface="Calibri"/>
              </a:rPr>
              <a:t>afbeelding</a:t>
            </a:r>
            <a:r>
              <a:rPr lang="en-US" dirty="0">
                <a:ea typeface="Calibri"/>
                <a:cs typeface="Calibri"/>
              </a:rPr>
              <a:t> in gimp of </a:t>
            </a:r>
            <a:r>
              <a:rPr lang="en-US" dirty="0" err="1">
                <a:ea typeface="Calibri"/>
                <a:cs typeface="Calibri"/>
              </a:rPr>
              <a:t>andere</a:t>
            </a:r>
            <a:r>
              <a:rPr lang="en-US" dirty="0">
                <a:ea typeface="Calibri"/>
                <a:cs typeface="Calibri"/>
              </a:rPr>
              <a:t> tool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openen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waar</a:t>
            </a:r>
            <a:r>
              <a:rPr lang="en-US" dirty="0">
                <a:ea typeface="Calibri"/>
                <a:cs typeface="Calibri"/>
              </a:rPr>
              <a:t> je met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magic wand </a:t>
            </a:r>
            <a:r>
              <a:rPr lang="en-US" dirty="0" err="1">
                <a:ea typeface="Calibri"/>
                <a:cs typeface="Calibri"/>
              </a:rPr>
              <a:t>grote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vlakken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kan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selecteren</a:t>
            </a:r>
            <a:r>
              <a:rPr lang="en-US" dirty="0">
                <a:ea typeface="Calibri"/>
                <a:cs typeface="Calibri"/>
              </a:rPr>
              <a:t>. </a:t>
            </a:r>
            <a:r>
              <a:rPr lang="en-US" dirty="0" err="1">
                <a:ea typeface="Calibri"/>
                <a:cs typeface="Calibri"/>
              </a:rPr>
              <a:t>Vergeet</a:t>
            </a:r>
            <a:r>
              <a:rPr lang="en-US" dirty="0">
                <a:ea typeface="Calibri"/>
                <a:cs typeface="Calibri"/>
              </a:rPr>
              <a:t> ze dan </a:t>
            </a:r>
            <a:r>
              <a:rPr lang="en-US" dirty="0" err="1">
                <a:ea typeface="Calibri"/>
                <a:cs typeface="Calibri"/>
              </a:rPr>
              <a:t>wel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niet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nadien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terug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inkscape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tracen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schalen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zodat</a:t>
            </a:r>
            <a:r>
              <a:rPr lang="en-US" dirty="0">
                <a:ea typeface="Calibri"/>
                <a:cs typeface="Calibri"/>
              </a:rPr>
              <a:t> het </a:t>
            </a:r>
            <a:r>
              <a:rPr lang="en-US" dirty="0" err="1">
                <a:ea typeface="Calibri"/>
                <a:cs typeface="Calibri"/>
              </a:rPr>
              <a:t>eindresultaat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SVG is. </a:t>
            </a:r>
            <a:r>
              <a:rPr lang="en-US" dirty="0" err="1">
                <a:ea typeface="Calibri"/>
                <a:cs typeface="Calibri"/>
              </a:rPr>
              <a:t>KiCad</a:t>
            </a:r>
            <a:r>
              <a:rPr lang="en-US" dirty="0">
                <a:ea typeface="Calibri"/>
                <a:cs typeface="Calibri"/>
              </a:rPr>
              <a:t> KAN </a:t>
            </a:r>
            <a:r>
              <a:rPr lang="en-US" dirty="0" err="1">
                <a:ea typeface="Calibri"/>
                <a:cs typeface="Calibri"/>
              </a:rPr>
              <a:t>normaal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wel</a:t>
            </a:r>
            <a:r>
              <a:rPr lang="en-US" dirty="0">
                <a:ea typeface="Calibri"/>
                <a:cs typeface="Calibri"/>
              </a:rPr>
              <a:t> om met jpg of </a:t>
            </a:r>
            <a:r>
              <a:rPr lang="en-US" dirty="0" err="1">
                <a:ea typeface="Calibri"/>
                <a:cs typeface="Calibri"/>
              </a:rPr>
              <a:t>png</a:t>
            </a:r>
            <a:r>
              <a:rPr lang="en-US" dirty="0">
                <a:ea typeface="Calibri"/>
                <a:cs typeface="Calibri"/>
              </a:rPr>
              <a:t> files, maar SVG is </a:t>
            </a:r>
            <a:r>
              <a:rPr lang="en-US" dirty="0" err="1">
                <a:ea typeface="Calibri"/>
                <a:cs typeface="Calibri"/>
              </a:rPr>
              <a:t>preciezer</a:t>
            </a:r>
            <a:r>
              <a:rPr lang="en-US" dirty="0">
                <a:ea typeface="Calibri"/>
                <a:cs typeface="Calibri"/>
              </a:rPr>
              <a:t> qua </a:t>
            </a:r>
            <a:r>
              <a:rPr lang="en-US" dirty="0" err="1">
                <a:ea typeface="Calibri"/>
                <a:cs typeface="Calibri"/>
              </a:rPr>
              <a:t>afmetingen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91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Vergeet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niet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zowel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f.CU </a:t>
            </a:r>
            <a:r>
              <a:rPr lang="en-US" dirty="0" err="1">
                <a:ea typeface="Calibri"/>
                <a:cs typeface="Calibri"/>
              </a:rPr>
              <a:t>als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f.MASK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zetten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als</a:t>
            </a:r>
            <a:r>
              <a:rPr lang="en-US" dirty="0">
                <a:ea typeface="Calibri"/>
                <a:cs typeface="Calibri"/>
              </a:rPr>
              <a:t> je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trace </a:t>
            </a:r>
            <a:r>
              <a:rPr lang="en-US" dirty="0" err="1">
                <a:ea typeface="Calibri"/>
                <a:cs typeface="Calibri"/>
              </a:rPr>
              <a:t>zichtbaar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wil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hebben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als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soldeerpad</a:t>
            </a:r>
            <a:r>
              <a:rPr lang="en-US" dirty="0">
                <a:ea typeface="Calibri"/>
                <a:cs typeface="Calibri"/>
              </a:rPr>
              <a:t>. De </a:t>
            </a:r>
            <a:r>
              <a:rPr lang="en-US" dirty="0" err="1">
                <a:ea typeface="Calibri"/>
                <a:cs typeface="Calibri"/>
              </a:rPr>
              <a:t>oogjes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dit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voorbeeld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zijn</a:t>
            </a:r>
            <a:r>
              <a:rPr lang="en-US" dirty="0">
                <a:ea typeface="Calibri"/>
                <a:cs typeface="Calibri"/>
              </a:rPr>
              <a:t> 2 </a:t>
            </a:r>
            <a:r>
              <a:rPr lang="en-US" dirty="0" err="1">
                <a:ea typeface="Calibri"/>
                <a:cs typeface="Calibri"/>
              </a:rPr>
              <a:t>afbeeldingen</a:t>
            </a:r>
            <a:r>
              <a:rPr lang="en-US" dirty="0">
                <a:ea typeface="Calibri"/>
                <a:cs typeface="Calibri"/>
              </a:rPr>
              <a:t> over </a:t>
            </a:r>
            <a:r>
              <a:rPr lang="en-US" dirty="0" err="1">
                <a:ea typeface="Calibri"/>
                <a:cs typeface="Calibri"/>
              </a:rPr>
              <a:t>elkaar</a:t>
            </a:r>
            <a:r>
              <a:rPr lang="en-US" dirty="0">
                <a:ea typeface="Calibri"/>
                <a:cs typeface="Calibri"/>
              </a:rPr>
              <a:t>, 1 op de f.CU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een</a:t>
            </a:r>
            <a:r>
              <a:rPr lang="en-US" dirty="0">
                <a:ea typeface="Calibri"/>
                <a:cs typeface="Calibri"/>
              </a:rPr>
              <a:t> op de </a:t>
            </a:r>
            <a:r>
              <a:rPr lang="en-US" dirty="0" err="1">
                <a:ea typeface="Calibri"/>
                <a:cs typeface="Calibri"/>
              </a:rPr>
              <a:t>f.MASK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laag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6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Voor minder dan 10€ </a:t>
            </a:r>
            <a:r>
              <a:rPr lang="en-US" dirty="0" err="1">
                <a:ea typeface="Calibri"/>
                <a:cs typeface="Calibri"/>
              </a:rPr>
              <a:t>heb</a:t>
            </a:r>
            <a:r>
              <a:rPr lang="en-US" dirty="0">
                <a:ea typeface="Calibri"/>
                <a:cs typeface="Calibri"/>
              </a:rPr>
              <a:t> je </a:t>
            </a:r>
            <a:r>
              <a:rPr lang="en-US" dirty="0" err="1">
                <a:ea typeface="Calibri"/>
                <a:cs typeface="Calibri"/>
              </a:rPr>
              <a:t>vaak</a:t>
            </a:r>
            <a:r>
              <a:rPr lang="en-US" dirty="0">
                <a:ea typeface="Calibri"/>
                <a:cs typeface="Calibri"/>
              </a:rPr>
              <a:t> al 5 PCB's </a:t>
            </a:r>
            <a:r>
              <a:rPr lang="en-US" dirty="0" err="1">
                <a:ea typeface="Calibri"/>
                <a:cs typeface="Calibri"/>
              </a:rPr>
              <a:t>geleverd</a:t>
            </a:r>
            <a:r>
              <a:rPr lang="en-US" dirty="0">
                <a:ea typeface="Calibri"/>
                <a:cs typeface="Calibri"/>
              </a:rPr>
              <a:t>. Als er dan </a:t>
            </a:r>
            <a:r>
              <a:rPr lang="en-US" dirty="0" err="1">
                <a:ea typeface="Calibri"/>
                <a:cs typeface="Calibri"/>
              </a:rPr>
              <a:t>toch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iets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niet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goed</a:t>
            </a:r>
            <a:r>
              <a:rPr lang="en-US" dirty="0">
                <a:ea typeface="Calibri"/>
                <a:cs typeface="Calibri"/>
              </a:rPr>
              <a:t> is </a:t>
            </a:r>
            <a:r>
              <a:rPr lang="en-US" dirty="0" err="1">
                <a:ea typeface="Calibri"/>
                <a:cs typeface="Calibri"/>
              </a:rPr>
              <a:t>kan</a:t>
            </a:r>
            <a:r>
              <a:rPr lang="en-US" dirty="0">
                <a:ea typeface="Calibri"/>
                <a:cs typeface="Calibri"/>
              </a:rPr>
              <a:t> je </a:t>
            </a:r>
            <a:r>
              <a:rPr lang="en-US" dirty="0" err="1">
                <a:ea typeface="Calibri"/>
                <a:cs typeface="Calibri"/>
              </a:rPr>
              <a:t>nog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altijd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aanpassen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opnieuw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bestellen</a:t>
            </a:r>
            <a:r>
              <a:rPr lang="en-US" dirty="0">
                <a:ea typeface="Calibri"/>
                <a:cs typeface="Calibri"/>
              </a:rPr>
              <a:t>. In het </a:t>
            </a:r>
            <a:r>
              <a:rPr lang="en-US" dirty="0" err="1">
                <a:ea typeface="Calibri"/>
                <a:cs typeface="Calibri"/>
              </a:rPr>
              <a:t>voorbeeld</a:t>
            </a:r>
            <a:r>
              <a:rPr lang="en-US" dirty="0">
                <a:ea typeface="Calibri"/>
                <a:cs typeface="Calibri"/>
              </a:rPr>
              <a:t> van de stitch </a:t>
            </a:r>
            <a:r>
              <a:rPr lang="en-US" dirty="0" err="1">
                <a:ea typeface="Calibri"/>
                <a:cs typeface="Calibri"/>
              </a:rPr>
              <a:t>mocht</a:t>
            </a:r>
            <a:r>
              <a:rPr lang="en-US" dirty="0">
                <a:ea typeface="Calibri"/>
                <a:cs typeface="Calibri"/>
              </a:rPr>
              <a:t> het </a:t>
            </a:r>
            <a:r>
              <a:rPr lang="en-US" dirty="0" err="1">
                <a:ea typeface="Calibri"/>
                <a:cs typeface="Calibri"/>
              </a:rPr>
              <a:t>cont</a:t>
            </a:r>
            <a:r>
              <a:rPr lang="en-US" dirty="0">
                <a:ea typeface="Calibri"/>
                <a:cs typeface="Calibri"/>
              </a:rPr>
              <a:t>rast </a:t>
            </a:r>
            <a:r>
              <a:rPr lang="en-US" dirty="0" err="1">
                <a:ea typeface="Calibri"/>
                <a:cs typeface="Calibri"/>
              </a:rPr>
              <a:t>bijvoorbeeld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iets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groter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geweest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zijn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ik</a:t>
            </a:r>
            <a:r>
              <a:rPr lang="en-US" dirty="0">
                <a:ea typeface="Calibri"/>
                <a:cs typeface="Calibri"/>
              </a:rPr>
              <a:t> had </a:t>
            </a:r>
            <a:r>
              <a:rPr lang="en-US" dirty="0" err="1">
                <a:ea typeface="Calibri"/>
                <a:cs typeface="Calibri"/>
              </a:rPr>
              <a:t>beter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kleuren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omgedraaid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zodat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stukken</a:t>
            </a:r>
            <a:r>
              <a:rPr lang="en-US" dirty="0">
                <a:ea typeface="Calibri"/>
                <a:cs typeface="Calibri"/>
              </a:rPr>
              <a:t> die nu </a:t>
            </a:r>
            <a:r>
              <a:rPr lang="en-US" dirty="0" err="1">
                <a:ea typeface="Calibri"/>
                <a:cs typeface="Calibri"/>
              </a:rPr>
              <a:t>donker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zijn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lichter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waren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vice 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12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6886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30946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Het </a:t>
            </a:r>
            <a:r>
              <a:rPr lang="en-US" dirty="0" err="1">
                <a:ea typeface="Calibri"/>
                <a:cs typeface="Calibri"/>
              </a:rPr>
              <a:t>zou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tof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zijn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moesten</a:t>
            </a:r>
            <a:r>
              <a:rPr lang="en-US" dirty="0">
                <a:ea typeface="Calibri"/>
                <a:cs typeface="Calibri"/>
              </a:rPr>
              <a:t> er </a:t>
            </a:r>
            <a:r>
              <a:rPr lang="en-US" dirty="0" err="1">
                <a:ea typeface="Calibri"/>
                <a:cs typeface="Calibri"/>
              </a:rPr>
              <a:t>meer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mensen</a:t>
            </a:r>
            <a:r>
              <a:rPr lang="en-US" dirty="0">
                <a:ea typeface="Calibri"/>
                <a:cs typeface="Calibri"/>
              </a:rPr>
              <a:t> SAO's </a:t>
            </a:r>
            <a:r>
              <a:rPr lang="en-US" dirty="0" err="1">
                <a:ea typeface="Calibri"/>
                <a:cs typeface="Calibri"/>
              </a:rPr>
              <a:t>maken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voor</a:t>
            </a:r>
            <a:r>
              <a:rPr lang="en-US" dirty="0">
                <a:ea typeface="Calibri"/>
                <a:cs typeface="Calibri"/>
              </a:rPr>
              <a:t> op de fri3d badges, zo </a:t>
            </a:r>
            <a:r>
              <a:rPr lang="en-US" dirty="0" err="1">
                <a:ea typeface="Calibri"/>
                <a:cs typeface="Calibri"/>
              </a:rPr>
              <a:t>kunnen</a:t>
            </a:r>
            <a:r>
              <a:rPr lang="en-US" dirty="0">
                <a:ea typeface="Calibri"/>
                <a:cs typeface="Calibri"/>
              </a:rPr>
              <a:t> we ze </a:t>
            </a:r>
            <a:r>
              <a:rPr lang="en-US" dirty="0" err="1">
                <a:ea typeface="Calibri"/>
                <a:cs typeface="Calibri"/>
              </a:rPr>
              <a:t>ruilen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weg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geven</a:t>
            </a:r>
            <a:r>
              <a:rPr lang="en-US" dirty="0">
                <a:ea typeface="Calibri"/>
                <a:cs typeface="Calibri"/>
              </a:rPr>
              <a:t>. Of </a:t>
            </a:r>
            <a:r>
              <a:rPr lang="en-US" dirty="0" err="1">
                <a:ea typeface="Calibri"/>
                <a:cs typeface="Calibri"/>
              </a:rPr>
              <a:t>verdienen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zoals</a:t>
            </a:r>
            <a:r>
              <a:rPr lang="en-US" dirty="0">
                <a:ea typeface="Calibri"/>
                <a:cs typeface="Calibri"/>
              </a:rPr>
              <a:t> de jeopardy 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C27EE-F55C-4665-BE63-D7841FF83C00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54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01.08.2026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PCB Art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Van design tot </a:t>
            </a:r>
            <a:r>
              <a:rPr lang="de-DE" err="1"/>
              <a:t>productie</a:t>
            </a:r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 descr="Mini-Ph0xx_banner.jpg">
            <a:extLst>
              <a:ext uri="{FF2B5EF4-FFF2-40B4-BE49-F238E27FC236}">
                <a16:creationId xmlns:a16="http://schemas.microsoft.com/office/drawing/2014/main" id="{E1685D60-ABE3-FDFF-ADC2-1542EC53D5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18749" r="15009"/>
          <a:stretch>
            <a:fillRect/>
          </a:stretch>
        </p:blipFill>
        <p:spPr>
          <a:xfrm>
            <a:off x="20" y="1021"/>
            <a:ext cx="12191980" cy="68559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320DCB5-7DF3-063D-875E-B31086CD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09" y="635069"/>
            <a:ext cx="4509236" cy="1139139"/>
          </a:xfrm>
        </p:spPr>
        <p:txBody>
          <a:bodyPr>
            <a:normAutofit/>
          </a:bodyPr>
          <a:lstStyle/>
          <a:p>
            <a:r>
              <a:rPr lang="nl-NL" sz="3600"/>
              <a:t>Voorbeelden van PCB Art designs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79D15A93-B0D4-EBBA-5029-155806939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92" y="1941362"/>
            <a:ext cx="4492454" cy="2419097"/>
          </a:xfrm>
        </p:spPr>
        <p:txBody>
          <a:bodyPr anchor="t">
            <a:normAutofit/>
          </a:bodyPr>
          <a:lstStyle/>
          <a:p>
            <a:endParaRPr lang="en-US" sz="1800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1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Tijdelijke aanduiding voor inhoud 3" descr="Afbeelding met hand, vinger, nagel, kunst&#10;&#10;Door AI gegenereerde inhoud is mogelijk onjuist.">
            <a:extLst>
              <a:ext uri="{FF2B5EF4-FFF2-40B4-BE49-F238E27FC236}">
                <a16:creationId xmlns:a16="http://schemas.microsoft.com/office/drawing/2014/main" id="{A9DB24CC-0A31-D855-1BDD-0EFED32C2B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329" r="3673" b="4"/>
          <a:stretch>
            <a:fillRect/>
          </a:stretch>
        </p:blipFill>
        <p:spPr>
          <a:xfrm>
            <a:off x="5714207" y="361702"/>
            <a:ext cx="1691640" cy="1691640"/>
          </a:xfrm>
          <a:custGeom>
            <a:avLst/>
            <a:gdLst/>
            <a:ahLst/>
            <a:cxnLst/>
            <a:rect l="l" t="t" r="r" b="b"/>
            <a:pathLst>
              <a:path w="1956816" h="1956816">
                <a:moveTo>
                  <a:pt x="978408" y="0"/>
                </a:moveTo>
                <a:cubicBezTo>
                  <a:pt x="1518768" y="0"/>
                  <a:pt x="1956816" y="438048"/>
                  <a:pt x="1956816" y="978408"/>
                </a:cubicBezTo>
                <a:cubicBezTo>
                  <a:pt x="1956816" y="1518768"/>
                  <a:pt x="1518768" y="1956816"/>
                  <a:pt x="978408" y="1956816"/>
                </a:cubicBezTo>
                <a:cubicBezTo>
                  <a:pt x="438048" y="1956816"/>
                  <a:pt x="0" y="1518768"/>
                  <a:pt x="0" y="978408"/>
                </a:cubicBezTo>
                <a:cubicBezTo>
                  <a:pt x="0" y="438048"/>
                  <a:pt x="438048" y="0"/>
                  <a:pt x="978408" y="0"/>
                </a:cubicBezTo>
                <a:close/>
              </a:path>
            </a:pathLst>
          </a:custGeom>
        </p:spPr>
      </p:pic>
      <p:sp>
        <p:nvSpPr>
          <p:cNvPr id="25" name="Freeform: Shape 17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1428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Afbeelding 7" descr="Red boards">
            <a:extLst>
              <a:ext uri="{FF2B5EF4-FFF2-40B4-BE49-F238E27FC236}">
                <a16:creationId xmlns:a16="http://schemas.microsoft.com/office/drawing/2014/main" id="{4EF8FEC2-4156-B84B-4AC3-1AD817276A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886020" y="2715337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834640" h="2834640">
                <a:moveTo>
                  <a:pt x="1417320" y="0"/>
                </a:moveTo>
                <a:cubicBezTo>
                  <a:pt x="2200084" y="0"/>
                  <a:pt x="2834640" y="634556"/>
                  <a:pt x="2834640" y="1417320"/>
                </a:cubicBezTo>
                <a:cubicBezTo>
                  <a:pt x="2834640" y="2200084"/>
                  <a:pt x="2200084" y="2834640"/>
                  <a:pt x="1417320" y="2834640"/>
                </a:cubicBezTo>
                <a:cubicBezTo>
                  <a:pt x="634556" y="2834640"/>
                  <a:pt x="0" y="2200084"/>
                  <a:pt x="0" y="1417320"/>
                </a:cubicBezTo>
                <a:cubicBezTo>
                  <a:pt x="0" y="634556"/>
                  <a:pt x="634556" y="0"/>
                  <a:pt x="1417320" y="0"/>
                </a:cubicBezTo>
                <a:close/>
              </a:path>
            </a:pathLst>
          </a:custGeom>
        </p:spPr>
      </p:pic>
      <p:pic>
        <p:nvPicPr>
          <p:cNvPr id="5" name="Afbeelding 4" descr="Afbeelding met tekenfilm, Dierfiguur&#10;&#10;Door AI gegenereerde inhoud is mogelijk onjuist.">
            <a:extLst>
              <a:ext uri="{FF2B5EF4-FFF2-40B4-BE49-F238E27FC236}">
                <a16:creationId xmlns:a16="http://schemas.microsoft.com/office/drawing/2014/main" id="{1BB88B08-39B7-C212-F47F-5681123305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0564" b="4"/>
          <a:stretch>
            <a:fillRect/>
          </a:stretch>
        </p:blipFill>
        <p:spPr>
          <a:xfrm>
            <a:off x="8278624" y="2"/>
            <a:ext cx="3913376" cy="3281569"/>
          </a:xfrm>
          <a:custGeom>
            <a:avLst/>
            <a:gdLst/>
            <a:ahLst/>
            <a:cxnLst/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3162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Afbeelding 5" descr="Afbeelding met kerstboom, kerstversiering, Kerstversiering, boom&#10;&#10;Door AI gegenereerde inhoud is mogelijk onjuist.">
            <a:extLst>
              <a:ext uri="{FF2B5EF4-FFF2-40B4-BE49-F238E27FC236}">
                <a16:creationId xmlns:a16="http://schemas.microsoft.com/office/drawing/2014/main" id="{B68CD12C-74DC-79EC-0D57-8E3E9EDCDD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80" r="5" b="25931"/>
          <a:stretch>
            <a:fillRect/>
          </a:stretch>
        </p:blipFill>
        <p:spPr>
          <a:xfrm>
            <a:off x="1818614" y="4769536"/>
            <a:ext cx="3950208" cy="2088462"/>
          </a:xfrm>
          <a:custGeom>
            <a:avLst/>
            <a:gdLst/>
            <a:ahLst/>
            <a:cxnLst/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Afbeelding 6" descr="Afbeelding met kat, tekenfilm, zoogdier, blauw&#10;&#10;Door AI gegenereerde inhoud is mogelijk onjuist.">
            <a:extLst>
              <a:ext uri="{FF2B5EF4-FFF2-40B4-BE49-F238E27FC236}">
                <a16:creationId xmlns:a16="http://schemas.microsoft.com/office/drawing/2014/main" id="{50FDFB10-6230-BF62-F5B1-E2706F11687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2552" b="-2"/>
          <a:stretch>
            <a:fillRect/>
          </a:stretch>
        </p:blipFill>
        <p:spPr>
          <a:xfrm>
            <a:off x="9009416" y="4131546"/>
            <a:ext cx="3178912" cy="2726454"/>
          </a:xfrm>
          <a:custGeom>
            <a:avLst/>
            <a:gdLst/>
            <a:ahLst/>
            <a:cxnLst/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93067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CEDFDA-75F4-BB2E-D9A4-EF1E92B4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nl-NL"/>
              <a:t>Eigen creaties</a:t>
            </a:r>
          </a:p>
        </p:txBody>
      </p:sp>
      <p:pic>
        <p:nvPicPr>
          <p:cNvPr id="4" name="Tijdelijke aanduiding voor inhoud 3" descr="Afbeelding met tekst, tekening, Kinderkunst&#10;&#10;Door AI gegenereerde inhoud is mogelijk onjuist.">
            <a:extLst>
              <a:ext uri="{FF2B5EF4-FFF2-40B4-BE49-F238E27FC236}">
                <a16:creationId xmlns:a16="http://schemas.microsoft.com/office/drawing/2014/main" id="{D994BC7A-4279-3BEF-8A15-BCFC4DBCFE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31" r="25760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AF4A08-2CDD-D617-CB37-899D09794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/>
              <a:t>Brixel</a:t>
            </a:r>
            <a:r>
              <a:rPr lang="en-US" sz="2000"/>
              <a:t> SAO</a:t>
            </a:r>
          </a:p>
          <a:p>
            <a:r>
              <a:rPr lang="en-US" sz="2000" err="1"/>
              <a:t>Jaopardy</a:t>
            </a:r>
            <a:r>
              <a:rPr lang="en-US" sz="2000"/>
              <a:t> winner SAO</a:t>
            </a:r>
          </a:p>
          <a:p>
            <a:r>
              <a:rPr lang="en-US" sz="2000"/>
              <a:t>Stitch SAO</a:t>
            </a:r>
          </a:p>
          <a:p>
            <a:r>
              <a:rPr lang="en-US" sz="2000" err="1"/>
              <a:t>Soldeerkitje</a:t>
            </a:r>
            <a:r>
              <a:rPr lang="en-US" sz="2000"/>
              <a:t> </a:t>
            </a:r>
            <a:r>
              <a:rPr lang="en-US" sz="2000" err="1"/>
              <a:t>autoloze</a:t>
            </a:r>
            <a:r>
              <a:rPr lang="en-US" sz="2000"/>
              <a:t> </a:t>
            </a:r>
            <a:r>
              <a:rPr lang="en-US" sz="2000" err="1"/>
              <a:t>zondag</a:t>
            </a:r>
            <a:endParaRPr lang="en-US" sz="2000"/>
          </a:p>
          <a:p>
            <a:r>
              <a:rPr lang="en-US" sz="2000" err="1"/>
              <a:t>Soldeerkitje</a:t>
            </a:r>
            <a:r>
              <a:rPr lang="en-US" sz="2000"/>
              <a:t> </a:t>
            </a:r>
            <a:r>
              <a:rPr lang="en-US" sz="2000" err="1"/>
              <a:t>Makerdays</a:t>
            </a:r>
            <a:endParaRPr lang="en-US" sz="2000"/>
          </a:p>
          <a:p>
            <a:r>
              <a:rPr lang="en-US" sz="2000" err="1"/>
              <a:t>Winkelkar</a:t>
            </a:r>
            <a:r>
              <a:rPr lang="en-US" sz="2000"/>
              <a:t> munt (promo </a:t>
            </a:r>
            <a:r>
              <a:rPr lang="en-US" sz="2000" err="1"/>
              <a:t>materiaal</a:t>
            </a:r>
            <a:r>
              <a:rPr lang="en-US" sz="20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103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7BE205-5E7D-A708-35BE-2CE9939E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nl-NL" sz="4000">
                <a:solidFill>
                  <a:schemeClr val="bg1"/>
                </a:solidFill>
              </a:rPr>
              <a:t>Hoe begin je eraan?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7ACF967-AAB2-04F1-13B8-721DE795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nl-NL" sz="2400"/>
              <a:t>Bedenk wat je wil gaan maken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Denk aan de beschikbare kleuren:</a:t>
            </a:r>
          </a:p>
          <a:p>
            <a:pPr lvl="2"/>
            <a:r>
              <a:rPr lang="nl-NL" sz="2400"/>
              <a:t>Achtergrondkleuren (Solder mask):</a:t>
            </a:r>
          </a:p>
          <a:p>
            <a:pPr lvl="3"/>
            <a:r>
              <a:rPr lang="nl-NL" sz="2200"/>
              <a:t>Groen,Rood,Paars,Geel,Blauw,Wit,Zwart</a:t>
            </a:r>
            <a:endParaRPr lang="nl-NL"/>
          </a:p>
          <a:p>
            <a:pPr lvl="2"/>
            <a:r>
              <a:rPr lang="nl-NL" sz="2400"/>
              <a:t>Voorgrondkleur (Silkscreen): </a:t>
            </a:r>
          </a:p>
          <a:p>
            <a:pPr lvl="3"/>
            <a:r>
              <a:rPr lang="nl-NL" sz="2200"/>
              <a:t>Wit (Bij alles behalve zwart), Zwart (Enkel bij witte PCB's)</a:t>
            </a:r>
          </a:p>
          <a:p>
            <a:pPr lvl="2"/>
            <a:r>
              <a:rPr lang="nl-NL" sz="2400"/>
              <a:t>Iets donkere achtergrondkleur:</a:t>
            </a:r>
          </a:p>
          <a:p>
            <a:pPr lvl="3"/>
            <a:r>
              <a:rPr lang="nl-NL" sz="2200"/>
              <a:t>door er een koperlaag onder te leggen</a:t>
            </a:r>
            <a:endParaRPr lang="nl-NL"/>
          </a:p>
          <a:p>
            <a:pPr lvl="2"/>
            <a:r>
              <a:rPr lang="nl-NL" sz="2400"/>
              <a:t>Lichte (bruinige) kleur: </a:t>
            </a:r>
          </a:p>
          <a:p>
            <a:pPr lvl="3"/>
            <a:r>
              <a:rPr lang="nl-NL" sz="2200"/>
              <a:t>koperlaag en soldermask weg</a:t>
            </a:r>
          </a:p>
          <a:p>
            <a:pPr lvl="2"/>
            <a:r>
              <a:rPr lang="nl-NL" sz="2400"/>
              <a:t>Surface finish: </a:t>
            </a:r>
          </a:p>
          <a:p>
            <a:pPr lvl="3"/>
            <a:r>
              <a:rPr lang="nl-NL" sz="2200"/>
              <a:t>Zilver (HASL) of Goud (ENIG)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nl-NL"/>
          </a:p>
          <a:p>
            <a:pPr lvl="2"/>
            <a:endParaRPr lang="nl-NL" sz="2400"/>
          </a:p>
        </p:txBody>
      </p:sp>
    </p:spTree>
    <p:extLst>
      <p:ext uri="{BB962C8B-B14F-4D97-AF65-F5344CB8AC3E}">
        <p14:creationId xmlns:p14="http://schemas.microsoft.com/office/powerpoint/2010/main" val="52295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0B181-EEA9-4A0F-B01F-8BB0A49B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Afbeelding maken/zoeken 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8A7B06-3C7D-7BD9-D15D-8F773FA97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Maak of zoek een lijntekening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Tip: gebruik de google image tools om aan te duiden dat je een clipart of lijntekening wil</a:t>
            </a:r>
          </a:p>
          <a:p>
            <a:r>
              <a:rPr lang="nl-NL"/>
              <a:t>Zorg dat de kleuren beperkt zijn</a:t>
            </a:r>
            <a:endParaRPr lang="nl-NL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Hoe simpeler hoe beter. Gradients zijn niet goed.</a:t>
            </a:r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marL="457200" lvl="1" indent="0">
              <a:buNone/>
            </a:pPr>
            <a:endParaRPr lang="nl-NL" dirty="0"/>
          </a:p>
        </p:txBody>
      </p:sp>
      <p:pic>
        <p:nvPicPr>
          <p:cNvPr id="4" name="Picture 3" descr="7 Genesis ideas | stitch disney, lilo and stitch, lilo">
            <a:extLst>
              <a:ext uri="{FF2B5EF4-FFF2-40B4-BE49-F238E27FC236}">
                <a16:creationId xmlns:a16="http://schemas.microsoft.com/office/drawing/2014/main" id="{5785913A-591E-B93B-87C8-6089A3897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42" y="3070713"/>
            <a:ext cx="2743199" cy="3194303"/>
          </a:xfrm>
          <a:prstGeom prst="rect">
            <a:avLst/>
          </a:prstGeom>
        </p:spPr>
      </p:pic>
      <p:pic>
        <p:nvPicPr>
          <p:cNvPr id="5" name="Picture 4" descr="Stitch Cute Clipart, Stitch Png, Cute Cartoon Character, Transparent  Design, Instant Download - Etsy Israel">
            <a:extLst>
              <a:ext uri="{FF2B5EF4-FFF2-40B4-BE49-F238E27FC236}">
                <a16:creationId xmlns:a16="http://schemas.microsoft.com/office/drawing/2014/main" id="{2174AB80-732B-5213-32D3-DBE560C6C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967" y="3807542"/>
            <a:ext cx="2743200" cy="2743200"/>
          </a:xfrm>
          <a:prstGeom prst="rect">
            <a:avLst/>
          </a:prstGeom>
        </p:spPr>
      </p:pic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83D6E7D7-668B-5712-CD72-EC4A17482AC7}"/>
              </a:ext>
            </a:extLst>
          </p:cNvPr>
          <p:cNvSpPr/>
          <p:nvPr/>
        </p:nvSpPr>
        <p:spPr>
          <a:xfrm>
            <a:off x="3047007" y="5178182"/>
            <a:ext cx="729897" cy="707779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6E4F4A-A39D-FF68-4266-7369C6435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7535" y="46629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92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63D8B-1843-E12E-1C19-CAFB6606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Afbeelding</a:t>
            </a:r>
            <a:r>
              <a:rPr lang="en-US" dirty="0"/>
              <a:t> </a:t>
            </a:r>
            <a:r>
              <a:rPr lang="en-US" dirty="0" err="1"/>
              <a:t>klaarmaken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A919-C6CB-5AA3-2F82-FAE2549A2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51"/>
            <a:ext cx="10515600" cy="46967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Belangrijk</a:t>
            </a:r>
            <a:r>
              <a:rPr lang="en-US" dirty="0"/>
              <a:t>: </a:t>
            </a:r>
            <a:r>
              <a:rPr lang="en-US" dirty="0" err="1"/>
              <a:t>stel</a:t>
            </a:r>
            <a:r>
              <a:rPr lang="en-US" dirty="0"/>
              <a:t> de </a:t>
            </a:r>
            <a:r>
              <a:rPr lang="en-US" dirty="0" err="1"/>
              <a:t>hoogte</a:t>
            </a:r>
            <a:r>
              <a:rPr lang="en-US" dirty="0"/>
              <a:t>/</a:t>
            </a:r>
            <a:r>
              <a:rPr lang="en-US" dirty="0" err="1"/>
              <a:t>breedte</a:t>
            </a:r>
            <a:r>
              <a:rPr lang="en-US" dirty="0"/>
              <a:t> van de </a:t>
            </a:r>
            <a:r>
              <a:rPr lang="en-US" dirty="0" err="1"/>
              <a:t>afbeelding</a:t>
            </a:r>
            <a:r>
              <a:rPr lang="en-US" dirty="0"/>
              <a:t> in.</a:t>
            </a:r>
          </a:p>
          <a:p>
            <a:r>
              <a:rPr lang="en-US" dirty="0" err="1"/>
              <a:t>Gebruik</a:t>
            </a:r>
            <a:r>
              <a:rPr lang="en-US" dirty="0"/>
              <a:t> de trace bitmap tool in Inkscape om de </a:t>
            </a:r>
            <a:r>
              <a:rPr lang="en-US" dirty="0" err="1"/>
              <a:t>afbeelding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vector </a:t>
            </a:r>
            <a:r>
              <a:rPr lang="en-US" dirty="0" err="1"/>
              <a:t>tekening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converteren</a:t>
            </a:r>
            <a:endParaRPr lang="en-US" dirty="0"/>
          </a:p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kopie</a:t>
            </a:r>
            <a:r>
              <a:rPr lang="en-US" dirty="0"/>
              <a:t> van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afbeelding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dirty="0" err="1"/>
              <a:t>verwijder</a:t>
            </a:r>
            <a:r>
              <a:rPr lang="en-US" dirty="0"/>
              <a:t> alle nodes </a:t>
            </a:r>
            <a:r>
              <a:rPr lang="en-US" dirty="0" err="1"/>
              <a:t>binnen</a:t>
            </a:r>
            <a:r>
              <a:rPr lang="en-US" dirty="0"/>
              <a:t> de </a:t>
            </a:r>
            <a:r>
              <a:rPr lang="en-US" dirty="0" err="1"/>
              <a:t>afbeelding</a:t>
            </a:r>
            <a:r>
              <a:rPr lang="en-US" dirty="0"/>
              <a:t> </a:t>
            </a:r>
            <a:r>
              <a:rPr lang="en-US" dirty="0" err="1"/>
              <a:t>zodat</a:t>
            </a:r>
            <a:r>
              <a:rPr lang="en-US" dirty="0"/>
              <a:t> je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silhouet</a:t>
            </a:r>
            <a:r>
              <a:rPr lang="en-US" dirty="0"/>
              <a:t> </a:t>
            </a:r>
            <a:r>
              <a:rPr lang="en-US" dirty="0" err="1"/>
              <a:t>verkrijgt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FC350-5C7D-F0AB-7263-FB6CCAD2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33" y="3885355"/>
            <a:ext cx="2157567" cy="2513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C129C2-8DF4-C24B-1613-CC8520C6D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163" y="3883818"/>
            <a:ext cx="2155723" cy="2614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329608-FC7C-0FC3-729D-5195F2A13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556" y="3872819"/>
            <a:ext cx="2169552" cy="2625766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9910523-2986-C7CB-10A0-D88D5E3DE36F}"/>
              </a:ext>
            </a:extLst>
          </p:cNvPr>
          <p:cNvSpPr/>
          <p:nvPr/>
        </p:nvSpPr>
        <p:spPr>
          <a:xfrm>
            <a:off x="3413321" y="5165218"/>
            <a:ext cx="715563" cy="361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6EE3320-D47C-2FF9-3353-D02056616EBE}"/>
              </a:ext>
            </a:extLst>
          </p:cNvPr>
          <p:cNvSpPr/>
          <p:nvPr/>
        </p:nvSpPr>
        <p:spPr>
          <a:xfrm>
            <a:off x="7102716" y="5165218"/>
            <a:ext cx="715563" cy="3618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47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09232-B818-080E-DA4F-BDF41D18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Silhouet naar kiCad edgecut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A25D5-25E8-4C15-927D-1859F5A20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700" dirty="0"/>
              <a:t>Maak </a:t>
            </a:r>
            <a:r>
              <a:rPr lang="en-US" sz="1700" dirty="0" err="1"/>
              <a:t>een</a:t>
            </a:r>
            <a:r>
              <a:rPr lang="en-US" sz="1700" dirty="0"/>
              <a:t> </a:t>
            </a:r>
            <a:r>
              <a:rPr lang="en-US" sz="1700" dirty="0" err="1"/>
              <a:t>nieuwe</a:t>
            </a:r>
            <a:r>
              <a:rPr lang="en-US" sz="1700" dirty="0"/>
              <a:t> </a:t>
            </a:r>
            <a:r>
              <a:rPr lang="en-US" sz="1700" dirty="0" err="1"/>
              <a:t>inkscape</a:t>
            </a:r>
            <a:r>
              <a:rPr lang="en-US" sz="1700" dirty="0"/>
              <a:t> </a:t>
            </a:r>
            <a:r>
              <a:rPr lang="en-US" sz="1700" dirty="0" err="1"/>
              <a:t>tekening</a:t>
            </a:r>
            <a:endParaRPr lang="en-US" sz="17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 err="1"/>
              <a:t>Plak</a:t>
            </a:r>
            <a:r>
              <a:rPr lang="en-US" sz="1700" dirty="0"/>
              <a:t> de </a:t>
            </a:r>
            <a:r>
              <a:rPr lang="en-US" sz="1700" dirty="0" err="1"/>
              <a:t>silhouet</a:t>
            </a:r>
            <a:r>
              <a:rPr lang="en-US" sz="1700" dirty="0"/>
              <a:t> vector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druk</a:t>
            </a:r>
            <a:r>
              <a:rPr lang="en-US" sz="1700" dirty="0"/>
              <a:t> </a:t>
            </a:r>
            <a:r>
              <a:rPr lang="en-US" sz="1700" dirty="0" err="1"/>
              <a:t>ctrl+shift+R</a:t>
            </a:r>
            <a:r>
              <a:rPr lang="en-US" sz="1700" dirty="0"/>
              <a:t> om de </a:t>
            </a:r>
            <a:r>
              <a:rPr lang="en-US" sz="1700" dirty="0" err="1"/>
              <a:t>pagina</a:t>
            </a:r>
            <a:r>
              <a:rPr lang="en-US" sz="1700" dirty="0"/>
              <a:t> even </a:t>
            </a:r>
            <a:r>
              <a:rPr lang="en-US" sz="1700" dirty="0" err="1"/>
              <a:t>groot</a:t>
            </a:r>
            <a:r>
              <a:rPr lang="en-US" sz="1700" dirty="0"/>
              <a:t> </a:t>
            </a:r>
            <a:r>
              <a:rPr lang="en-US" sz="1700" dirty="0" err="1"/>
              <a:t>te</a:t>
            </a:r>
            <a:r>
              <a:rPr lang="en-US" sz="1700" dirty="0"/>
              <a:t> </a:t>
            </a:r>
            <a:r>
              <a:rPr lang="en-US" sz="1700" dirty="0" err="1"/>
              <a:t>maken</a:t>
            </a:r>
            <a:r>
              <a:rPr lang="en-US" sz="1700" dirty="0"/>
              <a:t> </a:t>
            </a:r>
            <a:r>
              <a:rPr lang="en-US" sz="1700" dirty="0" err="1"/>
              <a:t>als</a:t>
            </a:r>
            <a:r>
              <a:rPr lang="en-US" sz="1700" dirty="0"/>
              <a:t> de </a:t>
            </a:r>
            <a:r>
              <a:rPr lang="en-US" sz="1700" dirty="0" err="1"/>
              <a:t>afbeelding</a:t>
            </a:r>
            <a:r>
              <a:rPr lang="en-US" sz="1700" dirty="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b="1" dirty="0" err="1"/>
              <a:t>Belangrijk</a:t>
            </a:r>
            <a:r>
              <a:rPr lang="en-US" sz="1700" b="1" dirty="0"/>
              <a:t>: </a:t>
            </a:r>
            <a:r>
              <a:rPr lang="en-US" sz="1700" b="1" dirty="0" err="1"/>
              <a:t>zorg</a:t>
            </a:r>
            <a:r>
              <a:rPr lang="en-US" sz="1700" b="1" dirty="0"/>
              <a:t> </a:t>
            </a:r>
            <a:r>
              <a:rPr lang="en-US" sz="1700" b="1" dirty="0" err="1"/>
              <a:t>dat</a:t>
            </a:r>
            <a:r>
              <a:rPr lang="en-US" sz="1700" b="1" dirty="0"/>
              <a:t> de </a:t>
            </a:r>
            <a:r>
              <a:rPr lang="en-US" sz="1700" b="1" dirty="0" err="1"/>
              <a:t>vorm</a:t>
            </a:r>
            <a:r>
              <a:rPr lang="en-US" sz="1700" b="1" dirty="0"/>
              <a:t> </a:t>
            </a:r>
            <a:r>
              <a:rPr lang="en-US" sz="1700" b="1" dirty="0" err="1"/>
              <a:t>niet</a:t>
            </a:r>
            <a:r>
              <a:rPr lang="en-US" sz="1700" b="1" dirty="0"/>
              <a:t> </a:t>
            </a:r>
            <a:r>
              <a:rPr lang="en-US" sz="1700" b="1" dirty="0" err="1"/>
              <a:t>ingevuld</a:t>
            </a:r>
            <a:r>
              <a:rPr lang="en-US" sz="1700" b="1" dirty="0"/>
              <a:t> is (</a:t>
            </a:r>
            <a:r>
              <a:rPr lang="en-US" sz="1700" b="1" dirty="0" err="1"/>
              <a:t>fout</a:t>
            </a:r>
            <a:r>
              <a:rPr lang="en-US" sz="1700" b="1" dirty="0"/>
              <a:t> op </a:t>
            </a:r>
            <a:r>
              <a:rPr lang="en-US" sz="1700" b="1" dirty="0" err="1"/>
              <a:t>afbeelding</a:t>
            </a:r>
            <a:r>
              <a:rPr lang="en-US" sz="1700" b="1" dirty="0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/>
              <a:t>Sla de SVG op</a:t>
            </a:r>
          </a:p>
          <a:p>
            <a:r>
              <a:rPr lang="en-US" sz="1700" dirty="0"/>
              <a:t>Open </a:t>
            </a:r>
            <a:r>
              <a:rPr lang="en-US" sz="1700" dirty="0" err="1"/>
              <a:t>kiCad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ga </a:t>
            </a:r>
            <a:r>
              <a:rPr lang="en-US" sz="1700" dirty="0" err="1"/>
              <a:t>naar</a:t>
            </a:r>
            <a:r>
              <a:rPr lang="en-US" sz="1700" dirty="0"/>
              <a:t> de PCB editor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Menu </a:t>
            </a:r>
            <a:r>
              <a:rPr lang="en-US" sz="1700" dirty="0" err="1"/>
              <a:t>bestand</a:t>
            </a:r>
            <a:r>
              <a:rPr lang="en-US" sz="1700" dirty="0"/>
              <a:t>-&gt;</a:t>
            </a:r>
            <a:r>
              <a:rPr lang="en-US" sz="1700" dirty="0" err="1"/>
              <a:t>importeren</a:t>
            </a:r>
            <a:r>
              <a:rPr lang="en-US" sz="1700" dirty="0"/>
              <a:t>-&gt;</a:t>
            </a:r>
            <a:r>
              <a:rPr lang="en-US" sz="1700" dirty="0" err="1"/>
              <a:t>afbeelding</a:t>
            </a:r>
            <a:endParaRPr lang="en-US" sz="17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Kies </a:t>
            </a:r>
            <a:r>
              <a:rPr lang="en-US" sz="1700" dirty="0" err="1"/>
              <a:t>bestand</a:t>
            </a:r>
            <a:r>
              <a:rPr lang="en-US" sz="1700" dirty="0"/>
              <a:t>, </a:t>
            </a:r>
            <a:r>
              <a:rPr lang="en-US" sz="1700" dirty="0" err="1"/>
              <a:t>schaal</a:t>
            </a:r>
            <a:r>
              <a:rPr lang="en-US" sz="1700" dirty="0"/>
              <a:t> 1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zorg</a:t>
            </a:r>
            <a:r>
              <a:rPr lang="en-US" sz="1700" dirty="0"/>
              <a:t> </a:t>
            </a:r>
            <a:r>
              <a:rPr lang="en-US" sz="1700" dirty="0" err="1"/>
              <a:t>dat</a:t>
            </a:r>
            <a:r>
              <a:rPr lang="en-US" sz="1700" dirty="0"/>
              <a:t> de </a:t>
            </a:r>
            <a:r>
              <a:rPr lang="en-US" sz="1700" dirty="0" err="1"/>
              <a:t>laag</a:t>
            </a:r>
            <a:r>
              <a:rPr lang="en-US" sz="1700" dirty="0"/>
              <a:t> op </a:t>
            </a:r>
            <a:r>
              <a:rPr lang="en-US" sz="1700" dirty="0" err="1"/>
              <a:t>Edge.cuts</a:t>
            </a:r>
            <a:r>
              <a:rPr lang="en-US" sz="1700" dirty="0"/>
              <a:t> </a:t>
            </a:r>
            <a:r>
              <a:rPr lang="en-US" sz="1700" dirty="0" err="1"/>
              <a:t>staat</a:t>
            </a:r>
            <a:endParaRPr lang="en-US" sz="17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 err="1"/>
              <a:t>Gebruik</a:t>
            </a:r>
            <a:r>
              <a:rPr lang="en-US" sz="1700" dirty="0"/>
              <a:t> de 3D viewer om </a:t>
            </a:r>
            <a:r>
              <a:rPr lang="en-US" sz="1700" dirty="0" err="1"/>
              <a:t>te</a:t>
            </a:r>
            <a:r>
              <a:rPr lang="en-US" sz="1700" dirty="0"/>
              <a:t> </a:t>
            </a:r>
            <a:r>
              <a:rPr lang="en-US" sz="1700" dirty="0" err="1"/>
              <a:t>controleren</a:t>
            </a:r>
            <a:r>
              <a:rPr lang="en-US" sz="1700" dirty="0"/>
              <a:t> of de </a:t>
            </a:r>
            <a:r>
              <a:rPr lang="en-US" sz="1700" dirty="0" err="1"/>
              <a:t>pcb</a:t>
            </a:r>
            <a:r>
              <a:rPr lang="en-US" sz="1700" dirty="0"/>
              <a:t> </a:t>
            </a:r>
            <a:r>
              <a:rPr lang="en-US" sz="1700" dirty="0" err="1"/>
              <a:t>vorm</a:t>
            </a:r>
            <a:r>
              <a:rPr lang="en-US" sz="1700" dirty="0"/>
              <a:t> correct is.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C1382-DFBE-FAA0-C8A6-3C3B951B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42" r="2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4052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A2812-0921-49E7-34CD-558011EC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Bouw de afbeelding terug op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7A4C-BEA2-6D77-F935-6B857078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In </a:t>
            </a:r>
            <a:r>
              <a:rPr lang="en-US" sz="2200" dirty="0" err="1"/>
              <a:t>inkscape</a:t>
            </a:r>
            <a:r>
              <a:rPr lang="en-US" sz="2200" dirty="0"/>
              <a:t>, </a:t>
            </a:r>
            <a:r>
              <a:rPr lang="en-US" sz="2200" dirty="0" err="1"/>
              <a:t>selecteer</a:t>
            </a:r>
            <a:r>
              <a:rPr lang="en-US" sz="2200" dirty="0"/>
              <a:t> de regio's die je op </a:t>
            </a:r>
            <a:r>
              <a:rPr lang="en-US" sz="2200" dirty="0" err="1"/>
              <a:t>een</a:t>
            </a:r>
            <a:r>
              <a:rPr lang="en-US" sz="2200" dirty="0"/>
              <a:t> </a:t>
            </a:r>
            <a:r>
              <a:rPr lang="en-US" sz="2200" dirty="0" err="1"/>
              <a:t>andere</a:t>
            </a:r>
            <a:r>
              <a:rPr lang="en-US" sz="2200" dirty="0"/>
              <a:t> </a:t>
            </a:r>
            <a:r>
              <a:rPr lang="en-US" sz="2200" dirty="0" err="1"/>
              <a:t>laag</a:t>
            </a:r>
            <a:r>
              <a:rPr lang="en-US" sz="2200" dirty="0"/>
              <a:t> </a:t>
            </a:r>
            <a:r>
              <a:rPr lang="en-US" sz="2200" dirty="0" err="1"/>
              <a:t>wil</a:t>
            </a:r>
            <a:r>
              <a:rPr lang="en-US" sz="2200" dirty="0"/>
              <a:t> </a:t>
            </a:r>
            <a:r>
              <a:rPr lang="en-US" sz="2200" dirty="0" err="1"/>
              <a:t>zetten</a:t>
            </a:r>
            <a:r>
              <a:rPr lang="en-US" sz="2200" dirty="0"/>
              <a:t>, </a:t>
            </a:r>
            <a:r>
              <a:rPr lang="en-US" sz="2200" dirty="0" err="1"/>
              <a:t>copieer</a:t>
            </a:r>
            <a:r>
              <a:rPr lang="en-US" sz="2200" dirty="0"/>
              <a:t> </a:t>
            </a:r>
            <a:r>
              <a:rPr lang="en-US" sz="2200" dirty="0" err="1"/>
              <a:t>deze</a:t>
            </a:r>
            <a:r>
              <a:rPr lang="en-US" sz="2200" dirty="0"/>
              <a:t> </a:t>
            </a:r>
            <a:r>
              <a:rPr lang="en-US" sz="2200" dirty="0" err="1"/>
              <a:t>naar</a:t>
            </a:r>
            <a:r>
              <a:rPr lang="en-US" sz="2200" dirty="0"/>
              <a:t> </a:t>
            </a:r>
            <a:r>
              <a:rPr lang="en-US" sz="2200" dirty="0" err="1"/>
              <a:t>een</a:t>
            </a:r>
            <a:r>
              <a:rPr lang="en-US" sz="2200" dirty="0"/>
              <a:t> </a:t>
            </a:r>
            <a:r>
              <a:rPr lang="en-US" sz="2200" dirty="0" err="1"/>
              <a:t>nieuwe</a:t>
            </a:r>
            <a:r>
              <a:rPr lang="en-US" sz="2200" dirty="0"/>
              <a:t> </a:t>
            </a:r>
            <a:r>
              <a:rPr lang="en-US" sz="2200" dirty="0" err="1"/>
              <a:t>afbeelding</a:t>
            </a:r>
            <a:r>
              <a:rPr lang="en-US" sz="2200" dirty="0"/>
              <a:t>, ctrl-shift-r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sla</a:t>
            </a:r>
            <a:r>
              <a:rPr lang="en-US" sz="2200" dirty="0"/>
              <a:t> op.</a:t>
            </a:r>
          </a:p>
          <a:p>
            <a:r>
              <a:rPr lang="en-US" sz="2200" dirty="0" err="1"/>
              <a:t>Importeer</a:t>
            </a:r>
            <a:r>
              <a:rPr lang="en-US" sz="2200" dirty="0"/>
              <a:t> </a:t>
            </a:r>
            <a:r>
              <a:rPr lang="en-US" sz="2200" dirty="0" err="1"/>
              <a:t>deze</a:t>
            </a:r>
            <a:r>
              <a:rPr lang="en-US" sz="2200" dirty="0"/>
              <a:t> in </a:t>
            </a:r>
            <a:r>
              <a:rPr lang="en-US" sz="2200" dirty="0" err="1"/>
              <a:t>kiCad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 </a:t>
            </a:r>
            <a:r>
              <a:rPr lang="en-US" sz="2200" dirty="0" err="1"/>
              <a:t>positioneer</a:t>
            </a:r>
            <a:r>
              <a:rPr lang="en-US" sz="2200" dirty="0"/>
              <a:t> ze.</a:t>
            </a:r>
          </a:p>
          <a:p>
            <a:r>
              <a:rPr lang="en-US" sz="2200" dirty="0" err="1"/>
              <a:t>Herhaal</a:t>
            </a:r>
            <a:r>
              <a:rPr lang="en-US" sz="2200" dirty="0"/>
              <a:t> </a:t>
            </a:r>
            <a:r>
              <a:rPr lang="en-US" sz="2200" dirty="0" err="1"/>
              <a:t>voor</a:t>
            </a:r>
            <a:r>
              <a:rPr lang="en-US" sz="2200" dirty="0"/>
              <a:t> </a:t>
            </a:r>
            <a:r>
              <a:rPr lang="en-US" sz="2200" dirty="0" err="1"/>
              <a:t>elke</a:t>
            </a:r>
            <a:r>
              <a:rPr lang="en-US" sz="2200" dirty="0"/>
              <a:t> </a:t>
            </a:r>
            <a:r>
              <a:rPr lang="en-US" sz="2200" dirty="0" err="1"/>
              <a:t>laag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73441-0712-40CC-E9EA-17EC2AF96A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42" r="2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2228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4A62B-61E5-1599-7288-37A505403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Gebruik je fantasie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C4AB-8D1B-DDA1-DA89-DB4466717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Vul de print met tekst, logo's, kleine easter-eggs.</a:t>
            </a:r>
          </a:p>
          <a:p>
            <a:r>
              <a:rPr lang="en-US" sz="2200"/>
              <a:t>Wil je een SAO maken? Zoek op google naar de hackaday pagina voor de Simple Add-Ons en download de kicad footprint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1973AE-4A26-4E13-B0DB-BED9DE754E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89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10527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31BD5F-F6A3-444D-F301-4E16612C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Fabricage uitvoer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F7E88-807B-2583-2874-937B1A978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/>
              <a:t>Als je klaar bent (of een tussentijdse controle wil doen), ga naar menu bestand -&gt; fabricage uitvoer -&gt; gerbers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/>
              <a:t>Kies een uitvoermap en klik op 'plotten' en nadien op boorbestanden genereren -&gt; genereren.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900"/>
          </a:p>
          <a:p>
            <a:r>
              <a:rPr lang="en-US" sz="1900"/>
              <a:t>Ga naar de uitvoermap en zip alle bestanden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00CD2-503A-C568-2A1D-81B876C730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71" r="2337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6229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CC9B-27D9-4732-4291-31238C37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Controle + bestelling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A5621-4EB3-48F8-4E5B-81672B135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Ga naar je favoriete PCB-boer (JLCpcb, PCBway, Eurocircuits,…)</a:t>
            </a:r>
          </a:p>
          <a:p>
            <a:r>
              <a:rPr lang="en-US" sz="2000"/>
              <a:t>Upload de zipfile</a:t>
            </a:r>
          </a:p>
          <a:p>
            <a:r>
              <a:rPr lang="en-US" sz="2000"/>
              <a:t>Kies de kleur, dikte, afwerking,..</a:t>
            </a:r>
          </a:p>
          <a:p>
            <a:r>
              <a:rPr lang="en-US" sz="2000"/>
              <a:t>Gebruik de gerber viewer om je werk nauwkeurig te controleren</a:t>
            </a:r>
          </a:p>
          <a:p>
            <a:r>
              <a:rPr lang="en-US" sz="2000"/>
              <a:t>Controleer de prijs en bestel.</a:t>
            </a:r>
          </a:p>
          <a:p>
            <a:r>
              <a:rPr lang="en-US" sz="2000"/>
              <a:t>~2 weken later liggen je PCB's op de mat.</a:t>
            </a:r>
          </a:p>
          <a:p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68121-8E28-A61D-6424-72C794941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748" y="1049431"/>
            <a:ext cx="5334160" cy="476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4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1E3C66F-27FD-3A23-6D6B-CC5E3490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Brixel Blinky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F23AF6D7-0690-7C39-2D69-8F2063E5B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20268" y="643466"/>
            <a:ext cx="5694796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A67B-4895-D774-69F0-C5B217E5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SAO Connector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070A09-C8CA-DEB5-69D1-2D13C1C47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45583" y="1527636"/>
            <a:ext cx="7500833" cy="435133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F5E48F4-545A-FCB2-175D-0F06C8AAC7ED}"/>
              </a:ext>
            </a:extLst>
          </p:cNvPr>
          <p:cNvCxnSpPr/>
          <p:nvPr/>
        </p:nvCxnSpPr>
        <p:spPr>
          <a:xfrm>
            <a:off x="6032500" y="5087055"/>
            <a:ext cx="1000943" cy="1031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799317-3F3E-9197-584F-EE6D46571102}"/>
              </a:ext>
            </a:extLst>
          </p:cNvPr>
          <p:cNvSpPr txBox="1"/>
          <p:nvPr/>
        </p:nvSpPr>
        <p:spPr>
          <a:xfrm>
            <a:off x="7090833" y="5961944"/>
            <a:ext cx="818444" cy="4092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5619BF-3B0C-1E4B-2223-34A5C646F97F}"/>
              </a:ext>
            </a:extLst>
          </p:cNvPr>
          <p:cNvSpPr txBox="1"/>
          <p:nvPr/>
        </p:nvSpPr>
        <p:spPr>
          <a:xfrm>
            <a:off x="754944" y="24200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0A698-603A-83B3-BACB-60AD886CF8C6}"/>
              </a:ext>
            </a:extLst>
          </p:cNvPr>
          <p:cNvSpPr txBox="1"/>
          <p:nvPr/>
        </p:nvSpPr>
        <p:spPr>
          <a:xfrm>
            <a:off x="7133166" y="6025444"/>
            <a:ext cx="1516944" cy="3739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B43DD53-DE99-56C0-B434-86BB912DDD6E}"/>
              </a:ext>
            </a:extLst>
          </p:cNvPr>
          <p:cNvSpPr txBox="1"/>
          <p:nvPr/>
        </p:nvSpPr>
        <p:spPr>
          <a:xfrm>
            <a:off x="7090833" y="6025444"/>
            <a:ext cx="110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GND</a:t>
            </a:r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36133CA1-BAA6-CF0C-3A04-C60590BDBE25}"/>
              </a:ext>
            </a:extLst>
          </p:cNvPr>
          <p:cNvCxnSpPr/>
          <p:nvPr/>
        </p:nvCxnSpPr>
        <p:spPr>
          <a:xfrm flipH="1">
            <a:off x="5280870" y="5087055"/>
            <a:ext cx="306198" cy="1062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9AF9DCB4-7A5F-2940-AF94-FA7C31886459}"/>
              </a:ext>
            </a:extLst>
          </p:cNvPr>
          <p:cNvSpPr txBox="1"/>
          <p:nvPr/>
        </p:nvSpPr>
        <p:spPr>
          <a:xfrm>
            <a:off x="4948768" y="6085565"/>
            <a:ext cx="110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VCC</a:t>
            </a:r>
          </a:p>
        </p:txBody>
      </p: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CEF31643-B6AE-EAA4-B2D6-8BF94DF60F75}"/>
              </a:ext>
            </a:extLst>
          </p:cNvPr>
          <p:cNvCxnSpPr/>
          <p:nvPr/>
        </p:nvCxnSpPr>
        <p:spPr>
          <a:xfrm flipH="1">
            <a:off x="4714613" y="4639112"/>
            <a:ext cx="872455" cy="159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EBAEBA8B-E1FE-64B1-FADA-8A0DAB8F058F}"/>
              </a:ext>
            </a:extLst>
          </p:cNvPr>
          <p:cNvSpPr txBox="1"/>
          <p:nvPr/>
        </p:nvSpPr>
        <p:spPr>
          <a:xfrm>
            <a:off x="4171464" y="4613837"/>
            <a:ext cx="110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SDA</a:t>
            </a: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69755B76-1BC5-7B5A-DD57-2AD9EAC72350}"/>
              </a:ext>
            </a:extLst>
          </p:cNvPr>
          <p:cNvCxnSpPr>
            <a:cxnSpLocks/>
          </p:cNvCxnSpPr>
          <p:nvPr/>
        </p:nvCxnSpPr>
        <p:spPr>
          <a:xfrm flipH="1" flipV="1">
            <a:off x="4879266" y="3927507"/>
            <a:ext cx="707802" cy="258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723554BF-9C06-3CC9-7F72-9C5D6B6AC37F}"/>
              </a:ext>
            </a:extLst>
          </p:cNvPr>
          <p:cNvSpPr txBox="1"/>
          <p:nvPr/>
        </p:nvSpPr>
        <p:spPr>
          <a:xfrm>
            <a:off x="4324563" y="3661686"/>
            <a:ext cx="110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GPIO1</a:t>
            </a:r>
          </a:p>
        </p:txBody>
      </p: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8059ACC5-FB5E-654A-2F37-2EA07A5681AE}"/>
              </a:ext>
            </a:extLst>
          </p:cNvPr>
          <p:cNvCxnSpPr/>
          <p:nvPr/>
        </p:nvCxnSpPr>
        <p:spPr>
          <a:xfrm>
            <a:off x="6058174" y="4639112"/>
            <a:ext cx="4265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88E38C68-B626-7B10-FF27-3E79F7144386}"/>
              </a:ext>
            </a:extLst>
          </p:cNvPr>
          <p:cNvCxnSpPr>
            <a:cxnSpLocks/>
          </p:cNvCxnSpPr>
          <p:nvPr/>
        </p:nvCxnSpPr>
        <p:spPr>
          <a:xfrm flipV="1">
            <a:off x="6058174" y="3927507"/>
            <a:ext cx="420566" cy="258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kstvak 27">
            <a:extLst>
              <a:ext uri="{FF2B5EF4-FFF2-40B4-BE49-F238E27FC236}">
                <a16:creationId xmlns:a16="http://schemas.microsoft.com/office/drawing/2014/main" id="{BB2BAF97-25F3-FE67-F3C3-37361D16DBF5}"/>
              </a:ext>
            </a:extLst>
          </p:cNvPr>
          <p:cNvSpPr txBox="1"/>
          <p:nvPr/>
        </p:nvSpPr>
        <p:spPr>
          <a:xfrm>
            <a:off x="6478740" y="4459822"/>
            <a:ext cx="110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SCL</a:t>
            </a:r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3C390243-44E0-2F88-3A3E-755F84746E5D}"/>
              </a:ext>
            </a:extLst>
          </p:cNvPr>
          <p:cNvSpPr txBox="1"/>
          <p:nvPr/>
        </p:nvSpPr>
        <p:spPr>
          <a:xfrm>
            <a:off x="6386649" y="3642803"/>
            <a:ext cx="110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GPIO2</a:t>
            </a:r>
          </a:p>
        </p:txBody>
      </p:sp>
    </p:spTree>
    <p:extLst>
      <p:ext uri="{BB962C8B-B14F-4D97-AF65-F5344CB8AC3E}">
        <p14:creationId xmlns:p14="http://schemas.microsoft.com/office/powerpoint/2010/main" val="53721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1DF3-CF43-D169-7D9A-A2F0B2732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PCB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2B0C-B6B2-D643-B53A-FF9652F1B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 nu is het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jullie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9478499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Breedbeeld</PresentationFormat>
  <Paragraphs>94</Paragraphs>
  <Slides>14</Slides>
  <Notes>12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Courier New</vt:lpstr>
      <vt:lpstr>Kantoorthema</vt:lpstr>
      <vt:lpstr>PCB Art</vt:lpstr>
      <vt:lpstr>Voorbeelden van PCB Art designs</vt:lpstr>
      <vt:lpstr>Eigen creaties</vt:lpstr>
      <vt:lpstr>Hoe begin je eraan?</vt:lpstr>
      <vt:lpstr>Afbeelding maken/zoeken </vt:lpstr>
      <vt:lpstr>Afbeelding klaarmaken</vt:lpstr>
      <vt:lpstr>Silhouet naar kiCad edgecut</vt:lpstr>
      <vt:lpstr>Bouw de afbeelding terug op</vt:lpstr>
      <vt:lpstr>Gebruik je fantasie</vt:lpstr>
      <vt:lpstr>Fabricage uitvoer</vt:lpstr>
      <vt:lpstr>Controle + bestelling</vt:lpstr>
      <vt:lpstr>Brixel Blinky</vt:lpstr>
      <vt:lpstr>SAO Connector</vt:lpstr>
      <vt:lpstr>PCB 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kevin e.</cp:lastModifiedBy>
  <cp:revision>289</cp:revision>
  <dcterms:created xsi:type="dcterms:W3CDTF">2026-06-16T12:43:12Z</dcterms:created>
  <dcterms:modified xsi:type="dcterms:W3CDTF">2026-08-01T12:06:23Z</dcterms:modified>
</cp:coreProperties>
</file>